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2" r:id="rId2"/>
    <p:sldId id="257" r:id="rId3"/>
    <p:sldId id="271" r:id="rId4"/>
    <p:sldId id="274" r:id="rId5"/>
    <p:sldId id="275" r:id="rId6"/>
    <p:sldId id="276" r:id="rId7"/>
    <p:sldId id="277" r:id="rId8"/>
    <p:sldId id="25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413"/>
    <a:srgbClr val="92214D"/>
    <a:srgbClr val="233D96"/>
    <a:srgbClr val="30499C"/>
    <a:srgbClr val="0038A8"/>
    <a:srgbClr val="F1804D"/>
    <a:srgbClr val="F8B62B"/>
    <a:srgbClr val="F5A4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16956-8723-457B-B812-97FE8CCA7DBA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CC4A3-9F2C-4255-9F90-D0B9E27FD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356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5229200"/>
            <a:ext cx="12192000" cy="1628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8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2868258" y="2348193"/>
            <a:ext cx="6455483" cy="3258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ko-KR" altLang="en-US" dirty="0"/>
              <a:t>주제를 써 주세요</a:t>
            </a:r>
          </a:p>
        </p:txBody>
      </p:sp>
      <p:sp>
        <p:nvSpPr>
          <p:cNvPr id="9" name="텍스트 개체 틀 15"/>
          <p:cNvSpPr>
            <a:spLocks noGrp="1"/>
          </p:cNvSpPr>
          <p:nvPr>
            <p:ph type="body" sz="quarter" idx="11" hasCustomPrompt="1"/>
          </p:nvPr>
        </p:nvSpPr>
        <p:spPr>
          <a:xfrm>
            <a:off x="1820385" y="1625126"/>
            <a:ext cx="8551229" cy="59755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000" b="1"/>
            </a:lvl1pPr>
          </a:lstStyle>
          <a:p>
            <a:pPr lvl="0"/>
            <a:r>
              <a:rPr lang="ko-KR" altLang="en-US" dirty="0"/>
              <a:t>제목을 써주세요</a:t>
            </a:r>
          </a:p>
        </p:txBody>
      </p:sp>
      <p:sp>
        <p:nvSpPr>
          <p:cNvPr id="10" name="텍스트 개체 틀 18"/>
          <p:cNvSpPr>
            <a:spLocks noGrp="1"/>
          </p:cNvSpPr>
          <p:nvPr>
            <p:ph type="body" sz="quarter" idx="13" hasCustomPrompt="1"/>
          </p:nvPr>
        </p:nvSpPr>
        <p:spPr>
          <a:xfrm>
            <a:off x="4510894" y="3543949"/>
            <a:ext cx="3170211" cy="27179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aseline="0"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XXXX.XX.XX</a:t>
            </a:r>
          </a:p>
        </p:txBody>
      </p:sp>
      <p:sp>
        <p:nvSpPr>
          <p:cNvPr id="11" name="텍스트 개체 틀 18"/>
          <p:cNvSpPr>
            <a:spLocks noGrp="1"/>
          </p:cNvSpPr>
          <p:nvPr>
            <p:ph type="body" sz="quarter" idx="14" hasCustomPrompt="1"/>
          </p:nvPr>
        </p:nvSpPr>
        <p:spPr>
          <a:xfrm>
            <a:off x="4510891" y="4687448"/>
            <a:ext cx="3170211" cy="27179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aseline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이름</a:t>
            </a:r>
            <a:endParaRPr lang="en-US" altLang="ko-KR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0" y="5229200"/>
            <a:ext cx="12192000" cy="0"/>
          </a:xfrm>
          <a:prstGeom prst="line">
            <a:avLst/>
          </a:prstGeom>
          <a:ln w="12700">
            <a:solidFill>
              <a:srgbClr val="92214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8">
            <a:extLst>
              <a:ext uri="{FF2B5EF4-FFF2-40B4-BE49-F238E27FC236}">
                <a16:creationId xmlns:a16="http://schemas.microsoft.com/office/drawing/2014/main" id="{14F027DC-2C82-CCA5-6E50-07F24B7B8E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0890" y="4416572"/>
            <a:ext cx="3170211" cy="27179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aseline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회사이름</a:t>
            </a:r>
            <a:endParaRPr lang="en-US" altLang="ko-KR" dirty="0"/>
          </a:p>
        </p:txBody>
      </p:sp>
      <p:pic>
        <p:nvPicPr>
          <p:cNvPr id="1028" name="Picture 4" descr="충북대학교 CHUNGBUK NATIONAL UNIVERSITY">
            <a:extLst>
              <a:ext uri="{FF2B5EF4-FFF2-40B4-BE49-F238E27FC236}">
                <a16:creationId xmlns:a16="http://schemas.microsoft.com/office/drawing/2014/main" id="{79D83A32-31A9-1817-F47A-AAD7ED1446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834" y="5799360"/>
            <a:ext cx="1724025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85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4524375" y="308574"/>
            <a:ext cx="66675" cy="62418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8" name="텍스트 개체 틀 31"/>
          <p:cNvSpPr>
            <a:spLocks noGrp="1"/>
          </p:cNvSpPr>
          <p:nvPr>
            <p:ph type="body" sz="quarter" idx="15" hasCustomPrompt="1"/>
          </p:nvPr>
        </p:nvSpPr>
        <p:spPr>
          <a:xfrm>
            <a:off x="5903391" y="1229766"/>
            <a:ext cx="5329103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Contents title</a:t>
            </a:r>
            <a:endParaRPr lang="ko-KR" altLang="en-US" dirty="0"/>
          </a:p>
        </p:txBody>
      </p:sp>
      <p:sp>
        <p:nvSpPr>
          <p:cNvPr id="19" name="텍스트 개체 틀 31"/>
          <p:cNvSpPr>
            <a:spLocks noGrp="1"/>
          </p:cNvSpPr>
          <p:nvPr>
            <p:ph type="body" sz="quarter" idx="16" hasCustomPrompt="1"/>
          </p:nvPr>
        </p:nvSpPr>
        <p:spPr>
          <a:xfrm>
            <a:off x="5894083" y="1572856"/>
            <a:ext cx="5335892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- Sub contents title</a:t>
            </a:r>
            <a:endParaRPr lang="ko-KR" altLang="en-US" dirty="0"/>
          </a:p>
        </p:txBody>
      </p:sp>
      <p:sp>
        <p:nvSpPr>
          <p:cNvPr id="20" name="텍스트 개체 틀 31"/>
          <p:cNvSpPr>
            <a:spLocks noGrp="1"/>
          </p:cNvSpPr>
          <p:nvPr>
            <p:ph type="body" sz="quarter" idx="18" hasCustomPrompt="1"/>
          </p:nvPr>
        </p:nvSpPr>
        <p:spPr>
          <a:xfrm>
            <a:off x="5903391" y="2106006"/>
            <a:ext cx="5329103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Contents title</a:t>
            </a:r>
            <a:endParaRPr lang="ko-KR" altLang="en-US" dirty="0"/>
          </a:p>
        </p:txBody>
      </p:sp>
      <p:sp>
        <p:nvSpPr>
          <p:cNvPr id="21" name="텍스트 개체 틀 31"/>
          <p:cNvSpPr>
            <a:spLocks noGrp="1"/>
          </p:cNvSpPr>
          <p:nvPr>
            <p:ph type="body" sz="quarter" idx="19" hasCustomPrompt="1"/>
          </p:nvPr>
        </p:nvSpPr>
        <p:spPr>
          <a:xfrm>
            <a:off x="5894083" y="2449096"/>
            <a:ext cx="5335892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- Sub contents title</a:t>
            </a:r>
            <a:endParaRPr lang="ko-KR" altLang="en-US" dirty="0"/>
          </a:p>
        </p:txBody>
      </p:sp>
      <p:sp>
        <p:nvSpPr>
          <p:cNvPr id="22" name="텍스트 개체 틀 31"/>
          <p:cNvSpPr>
            <a:spLocks noGrp="1"/>
          </p:cNvSpPr>
          <p:nvPr>
            <p:ph type="body" sz="quarter" idx="21" hasCustomPrompt="1"/>
          </p:nvPr>
        </p:nvSpPr>
        <p:spPr>
          <a:xfrm>
            <a:off x="5903391" y="2982246"/>
            <a:ext cx="5329103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Contents title</a:t>
            </a:r>
            <a:endParaRPr lang="ko-KR" altLang="en-US" dirty="0"/>
          </a:p>
        </p:txBody>
      </p:sp>
      <p:sp>
        <p:nvSpPr>
          <p:cNvPr id="23" name="텍스트 개체 틀 31"/>
          <p:cNvSpPr>
            <a:spLocks noGrp="1"/>
          </p:cNvSpPr>
          <p:nvPr>
            <p:ph type="body" sz="quarter" idx="22" hasCustomPrompt="1"/>
          </p:nvPr>
        </p:nvSpPr>
        <p:spPr>
          <a:xfrm>
            <a:off x="5894083" y="3325336"/>
            <a:ext cx="5335892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- Sub contents title</a:t>
            </a:r>
            <a:endParaRPr lang="ko-KR" altLang="en-US" dirty="0"/>
          </a:p>
        </p:txBody>
      </p:sp>
      <p:sp>
        <p:nvSpPr>
          <p:cNvPr id="24" name="텍스트 개체 틀 31"/>
          <p:cNvSpPr>
            <a:spLocks noGrp="1"/>
          </p:cNvSpPr>
          <p:nvPr>
            <p:ph type="body" sz="quarter" idx="24" hasCustomPrompt="1"/>
          </p:nvPr>
        </p:nvSpPr>
        <p:spPr>
          <a:xfrm>
            <a:off x="5903391" y="3882908"/>
            <a:ext cx="5329103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Contents title</a:t>
            </a:r>
            <a:endParaRPr lang="ko-KR" altLang="en-US" dirty="0"/>
          </a:p>
        </p:txBody>
      </p:sp>
      <p:sp>
        <p:nvSpPr>
          <p:cNvPr id="25" name="텍스트 개체 틀 31"/>
          <p:cNvSpPr>
            <a:spLocks noGrp="1"/>
          </p:cNvSpPr>
          <p:nvPr>
            <p:ph type="body" sz="quarter" idx="25" hasCustomPrompt="1"/>
          </p:nvPr>
        </p:nvSpPr>
        <p:spPr>
          <a:xfrm>
            <a:off x="5894083" y="4225998"/>
            <a:ext cx="5335892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- Sub contents title</a:t>
            </a:r>
            <a:endParaRPr lang="ko-KR" altLang="en-US" dirty="0"/>
          </a:p>
        </p:txBody>
      </p:sp>
      <p:sp>
        <p:nvSpPr>
          <p:cNvPr id="26" name="텍스트 개체 틀 31"/>
          <p:cNvSpPr>
            <a:spLocks noGrp="1"/>
          </p:cNvSpPr>
          <p:nvPr>
            <p:ph type="body" sz="quarter" idx="27" hasCustomPrompt="1"/>
          </p:nvPr>
        </p:nvSpPr>
        <p:spPr>
          <a:xfrm>
            <a:off x="5903391" y="4774605"/>
            <a:ext cx="5329103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Contents title</a:t>
            </a:r>
            <a:endParaRPr lang="ko-KR" altLang="en-US" dirty="0"/>
          </a:p>
        </p:txBody>
      </p:sp>
      <p:sp>
        <p:nvSpPr>
          <p:cNvPr id="27" name="텍스트 개체 틀 31"/>
          <p:cNvSpPr>
            <a:spLocks noGrp="1"/>
          </p:cNvSpPr>
          <p:nvPr>
            <p:ph type="body" sz="quarter" idx="28" hasCustomPrompt="1"/>
          </p:nvPr>
        </p:nvSpPr>
        <p:spPr>
          <a:xfrm>
            <a:off x="5894083" y="5117695"/>
            <a:ext cx="5335892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- Sub contents title</a:t>
            </a:r>
            <a:endParaRPr lang="ko-KR" altLang="en-US" dirty="0"/>
          </a:p>
        </p:txBody>
      </p:sp>
      <p:sp>
        <p:nvSpPr>
          <p:cNvPr id="28" name="TextBox 27"/>
          <p:cNvSpPr txBox="1"/>
          <p:nvPr userDrawn="1"/>
        </p:nvSpPr>
        <p:spPr>
          <a:xfrm>
            <a:off x="1471969" y="982541"/>
            <a:ext cx="2516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tx1"/>
                </a:solidFill>
                <a:latin typeface="+mj-ea"/>
                <a:ea typeface="+mj-ea"/>
                <a:cs typeface="Arial" panose="020B0604020202020204" pitchFamily="34" charset="0"/>
              </a:rPr>
              <a:t>CONTENTS</a:t>
            </a:r>
            <a:endParaRPr lang="ko-KR" altLang="en-US" sz="3600" dirty="0">
              <a:solidFill>
                <a:schemeClr val="tx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3" name="텍스트 개체 틀 31"/>
          <p:cNvSpPr>
            <a:spLocks noGrp="1"/>
          </p:cNvSpPr>
          <p:nvPr>
            <p:ph type="body" sz="quarter" idx="29" hasCustomPrompt="1"/>
          </p:nvPr>
        </p:nvSpPr>
        <p:spPr>
          <a:xfrm>
            <a:off x="5912699" y="5666302"/>
            <a:ext cx="5329103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Contents title</a:t>
            </a:r>
            <a:endParaRPr lang="ko-KR" altLang="en-US" dirty="0"/>
          </a:p>
        </p:txBody>
      </p:sp>
      <p:sp>
        <p:nvSpPr>
          <p:cNvPr id="34" name="텍스트 개체 틀 31"/>
          <p:cNvSpPr>
            <a:spLocks noGrp="1"/>
          </p:cNvSpPr>
          <p:nvPr>
            <p:ph type="body" sz="quarter" idx="30" hasCustomPrompt="1"/>
          </p:nvPr>
        </p:nvSpPr>
        <p:spPr>
          <a:xfrm>
            <a:off x="5903391" y="6009392"/>
            <a:ext cx="5335892" cy="282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- Sub contents title</a:t>
            </a:r>
            <a:endParaRPr lang="ko-KR" altLang="en-US" dirty="0"/>
          </a:p>
        </p:txBody>
      </p:sp>
      <p:sp>
        <p:nvSpPr>
          <p:cNvPr id="42" name="텍스트 개체 틀 31"/>
          <p:cNvSpPr>
            <a:spLocks noGrp="1"/>
          </p:cNvSpPr>
          <p:nvPr>
            <p:ph type="body" sz="quarter" idx="31" hasCustomPrompt="1"/>
          </p:nvPr>
        </p:nvSpPr>
        <p:spPr>
          <a:xfrm>
            <a:off x="5029982" y="1147737"/>
            <a:ext cx="911405" cy="4811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aseline="0">
                <a:solidFill>
                  <a:srgbClr val="9221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43" name="텍스트 개체 틀 31"/>
          <p:cNvSpPr>
            <a:spLocks noGrp="1"/>
          </p:cNvSpPr>
          <p:nvPr>
            <p:ph type="body" sz="quarter" idx="32" hasCustomPrompt="1"/>
          </p:nvPr>
        </p:nvSpPr>
        <p:spPr>
          <a:xfrm>
            <a:off x="5029982" y="2033610"/>
            <a:ext cx="911405" cy="4811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aseline="0">
                <a:solidFill>
                  <a:srgbClr val="9221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44" name="텍스트 개체 틀 31"/>
          <p:cNvSpPr>
            <a:spLocks noGrp="1"/>
          </p:cNvSpPr>
          <p:nvPr>
            <p:ph type="body" sz="quarter" idx="33" hasCustomPrompt="1"/>
          </p:nvPr>
        </p:nvSpPr>
        <p:spPr>
          <a:xfrm>
            <a:off x="5029982" y="2919483"/>
            <a:ext cx="911405" cy="4811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aseline="0">
                <a:solidFill>
                  <a:srgbClr val="9221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45" name="텍스트 개체 틀 31"/>
          <p:cNvSpPr>
            <a:spLocks noGrp="1"/>
          </p:cNvSpPr>
          <p:nvPr>
            <p:ph type="body" sz="quarter" idx="34" hasCustomPrompt="1"/>
          </p:nvPr>
        </p:nvSpPr>
        <p:spPr>
          <a:xfrm>
            <a:off x="5029982" y="3805356"/>
            <a:ext cx="911405" cy="4811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aseline="0">
                <a:solidFill>
                  <a:srgbClr val="9221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46" name="텍스트 개체 틀 31"/>
          <p:cNvSpPr>
            <a:spLocks noGrp="1"/>
          </p:cNvSpPr>
          <p:nvPr>
            <p:ph type="body" sz="quarter" idx="35" hasCustomPrompt="1"/>
          </p:nvPr>
        </p:nvSpPr>
        <p:spPr>
          <a:xfrm>
            <a:off x="5029982" y="4691229"/>
            <a:ext cx="911405" cy="4811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aseline="0">
                <a:solidFill>
                  <a:srgbClr val="9221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47" name="텍스트 개체 틀 31"/>
          <p:cNvSpPr>
            <a:spLocks noGrp="1"/>
          </p:cNvSpPr>
          <p:nvPr>
            <p:ph type="body" sz="quarter" idx="36" hasCustomPrompt="1"/>
          </p:nvPr>
        </p:nvSpPr>
        <p:spPr>
          <a:xfrm>
            <a:off x="5029982" y="5577100"/>
            <a:ext cx="911405" cy="4811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aseline="0">
                <a:solidFill>
                  <a:srgbClr val="9221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cxnSp>
        <p:nvCxnSpPr>
          <p:cNvPr id="30" name="직선 연결선 29"/>
          <p:cNvCxnSpPr/>
          <p:nvPr userDrawn="1"/>
        </p:nvCxnSpPr>
        <p:spPr>
          <a:xfrm>
            <a:off x="1471969" y="1628872"/>
            <a:ext cx="2516907" cy="0"/>
          </a:xfrm>
          <a:prstGeom prst="line">
            <a:avLst/>
          </a:prstGeom>
          <a:ln w="38100">
            <a:solidFill>
              <a:srgbClr val="92214D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 descr="충북대학교 CHUNGBUK NATIONAL UNIVERSITY">
            <a:extLst>
              <a:ext uri="{FF2B5EF4-FFF2-40B4-BE49-F238E27FC236}">
                <a16:creationId xmlns:a16="http://schemas.microsoft.com/office/drawing/2014/main" id="{31795E31-A3BF-4864-5930-B48F651C7E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112" y="6554116"/>
            <a:ext cx="877252" cy="29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05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774236"/>
            <a:ext cx="12192000" cy="0"/>
          </a:xfrm>
          <a:prstGeom prst="line">
            <a:avLst/>
          </a:prstGeom>
          <a:ln w="3175">
            <a:solidFill>
              <a:srgbClr val="233D9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15"/>
          <p:cNvSpPr>
            <a:spLocks noGrp="1"/>
          </p:cNvSpPr>
          <p:nvPr>
            <p:ph type="body" sz="quarter" idx="11" hasCustomPrompt="1"/>
          </p:nvPr>
        </p:nvSpPr>
        <p:spPr>
          <a:xfrm>
            <a:off x="1672146" y="262255"/>
            <a:ext cx="9678003" cy="5143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타이틀을 입력하시오</a:t>
            </a:r>
          </a:p>
        </p:txBody>
      </p:sp>
      <p:sp>
        <p:nvSpPr>
          <p:cNvPr id="7" name="텍스트 개체 틀 18"/>
          <p:cNvSpPr>
            <a:spLocks noGrp="1"/>
          </p:cNvSpPr>
          <p:nvPr>
            <p:ph type="body" sz="quarter" idx="12" hasCustomPrompt="1"/>
          </p:nvPr>
        </p:nvSpPr>
        <p:spPr>
          <a:xfrm>
            <a:off x="1726572" y="1905"/>
            <a:ext cx="9025467" cy="260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aseline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소제목을 입력하시오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7" hasCustomPrompt="1"/>
          </p:nvPr>
        </p:nvSpPr>
        <p:spPr>
          <a:xfrm>
            <a:off x="299103" y="895956"/>
            <a:ext cx="11630825" cy="5439757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10000"/>
              </a:lnSpc>
              <a:buClr>
                <a:srgbClr val="92214D"/>
              </a:buClr>
              <a:buFont typeface="Wingdings" panose="05000000000000000000" pitchFamily="2" charset="2"/>
              <a:buChar char="l"/>
              <a:defRPr sz="2200">
                <a:latin typeface="+mj-ea"/>
                <a:ea typeface="+mj-ea"/>
              </a:defRPr>
            </a:lvl1pPr>
            <a:lvl2pPr marL="685800" indent="-228600">
              <a:lnSpc>
                <a:spcPct val="110000"/>
              </a:lnSpc>
              <a:buClr>
                <a:srgbClr val="92214D"/>
              </a:buClr>
              <a:buFont typeface="Arial" panose="020B0604020202020204" pitchFamily="34" charset="0"/>
              <a:buChar char="•"/>
              <a:defRPr sz="2000">
                <a:latin typeface="+mj-ea"/>
                <a:ea typeface="+mj-ea"/>
              </a:defRPr>
            </a:lvl2pPr>
            <a:lvl3pPr marL="1143000" indent="-228600">
              <a:lnSpc>
                <a:spcPct val="110000"/>
              </a:lnSpc>
              <a:buClr>
                <a:srgbClr val="92214D"/>
              </a:buClr>
              <a:buFont typeface="Wingdings" panose="05000000000000000000" pitchFamily="2" charset="2"/>
              <a:buChar char="ü"/>
              <a:defRPr sz="1800">
                <a:latin typeface="+mj-ea"/>
                <a:ea typeface="+mj-ea"/>
              </a:defRPr>
            </a:lvl3pPr>
            <a:lvl4pPr marL="1600200" indent="-228600">
              <a:lnSpc>
                <a:spcPct val="110000"/>
              </a:lnSpc>
              <a:buFont typeface="Wingdings" panose="05000000000000000000" pitchFamily="2" charset="2"/>
              <a:buChar char="l"/>
              <a:defRPr sz="1600">
                <a:latin typeface="+mj-ea"/>
                <a:ea typeface="+mj-ea"/>
              </a:defRPr>
            </a:lvl4pPr>
            <a:lvl5pPr marL="2114550" indent="-285750">
              <a:lnSpc>
                <a:spcPct val="110000"/>
              </a:lnSpc>
              <a:buFontTx/>
              <a:buBlip>
                <a:blip r:embed="rId2"/>
              </a:buBlip>
              <a:defRPr sz="1400"/>
            </a:lvl5pPr>
          </a:lstStyle>
          <a:p>
            <a:pPr lvl="0"/>
            <a:r>
              <a:rPr lang="ko-KR" altLang="en-US" dirty="0"/>
              <a:t>내용을 입력하세요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9" name="오각형 8"/>
          <p:cNvSpPr/>
          <p:nvPr userDrawn="1"/>
        </p:nvSpPr>
        <p:spPr>
          <a:xfrm>
            <a:off x="-1" y="-3618"/>
            <a:ext cx="1444239" cy="779526"/>
          </a:xfrm>
          <a:prstGeom prst="homePlate">
            <a:avLst>
              <a:gd name="adj" fmla="val 30792"/>
            </a:avLst>
          </a:prstGeom>
          <a:solidFill>
            <a:srgbClr val="922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텍스트 개체 틀 15"/>
          <p:cNvSpPr>
            <a:spLocks noGrp="1"/>
          </p:cNvSpPr>
          <p:nvPr>
            <p:ph type="body" sz="quarter" idx="16" hasCustomPrompt="1"/>
          </p:nvPr>
        </p:nvSpPr>
        <p:spPr>
          <a:xfrm>
            <a:off x="135897" y="206719"/>
            <a:ext cx="1077435" cy="56918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6503350"/>
            <a:ext cx="12192000" cy="354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3"/>
          </p:nvPr>
        </p:nvSpPr>
        <p:spPr>
          <a:xfrm>
            <a:off x="0" y="6503348"/>
            <a:ext cx="543042" cy="360000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A4563BB0-29EF-40E2-A5A1-60824789BD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543042" y="6503348"/>
            <a:ext cx="457083" cy="36000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8</a:t>
            </a:r>
            <a:endParaRPr lang="ko-KR" alt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Picture 4" descr="충북대학교 CHUNGBUK NATIONAL UNIVERSITY">
            <a:extLst>
              <a:ext uri="{FF2B5EF4-FFF2-40B4-BE49-F238E27FC236}">
                <a16:creationId xmlns:a16="http://schemas.microsoft.com/office/drawing/2014/main" id="{041E05CA-7ABE-6070-E925-523C4CD906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112" y="6554116"/>
            <a:ext cx="877252" cy="29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540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5154499"/>
            <a:ext cx="12192000" cy="1702947"/>
          </a:xfrm>
          <a:prstGeom prst="rect">
            <a:avLst/>
          </a:prstGeom>
          <a:solidFill>
            <a:srgbClr val="F1F1F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8"/>
          <a:stretch/>
        </p:blipFill>
        <p:spPr>
          <a:xfrm>
            <a:off x="4211538" y="1702947"/>
            <a:ext cx="3768924" cy="3452105"/>
          </a:xfrm>
          <a:prstGeom prst="rect">
            <a:avLst/>
          </a:prstGeom>
        </p:spPr>
      </p:pic>
      <p:pic>
        <p:nvPicPr>
          <p:cNvPr id="2" name="Picture 4" descr="충북대학교 CHUNGBUK NATIONAL UNIVERSITY">
            <a:extLst>
              <a:ext uri="{FF2B5EF4-FFF2-40B4-BE49-F238E27FC236}">
                <a16:creationId xmlns:a16="http://schemas.microsoft.com/office/drawing/2014/main" id="{5127213D-632F-D946-B4B8-6C5CBA572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987" y="5799360"/>
            <a:ext cx="1724025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654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25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3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5EDAD8-7911-5A70-74EB-A9114A3BE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산업 컴퓨터비전 실제 수업 </a:t>
            </a:r>
            <a:r>
              <a:rPr lang="en-US" altLang="ko-KR" dirty="0"/>
              <a:t>1~7</a:t>
            </a:r>
            <a:r>
              <a:rPr lang="ko-KR" altLang="en-US" dirty="0"/>
              <a:t>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1A2E93-9A43-21B0-CA47-E09A57C3D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ROI </a:t>
            </a:r>
            <a:r>
              <a:rPr lang="ko-KR" altLang="en-US" dirty="0"/>
              <a:t>기반 </a:t>
            </a:r>
            <a:r>
              <a:rPr lang="en-US" altLang="ko-KR" dirty="0"/>
              <a:t>GUI </a:t>
            </a:r>
            <a:r>
              <a:rPr lang="ko-KR" altLang="en-US" dirty="0"/>
              <a:t>비교 프로그램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9880FD-77EA-77C7-B1CE-97235108A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2026. 04. 21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CDA06E-C5D6-B437-5DB4-85BACC7479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김 명 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DEC46A7-C887-42DA-3F6D-8AEA4B34DF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2026254020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391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05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06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주제 선정 배경</a:t>
            </a:r>
          </a:p>
        </p:txBody>
      </p:sp>
      <p:sp>
        <p:nvSpPr>
          <p:cNvPr id="21" name="텍스트 개체 틀 2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프로그램 구현</a:t>
            </a: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dirty="0"/>
              <a:t>전체 알고리즘 흐름</a:t>
            </a:r>
          </a:p>
        </p:txBody>
      </p:sp>
      <p:sp>
        <p:nvSpPr>
          <p:cNvPr id="23" name="텍스트 개체 틀 2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ko-KR" altLang="en-US" dirty="0"/>
              <a:t>결과 및 고찰</a:t>
            </a:r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5" name="텍스트 개체 틀 24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ko-KR" altLang="en-US" dirty="0"/>
              <a:t>발광 영역 추출</a:t>
            </a:r>
          </a:p>
        </p:txBody>
      </p:sp>
    </p:spTree>
    <p:extLst>
      <p:ext uri="{BB962C8B-B14F-4D97-AF65-F5344CB8AC3E}">
        <p14:creationId xmlns:p14="http://schemas.microsoft.com/office/powerpoint/2010/main" val="3923840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8" name="슬라이드 번호 개체 틀 3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563BB0-29EF-40E2-A5A1-60824789BDDB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주제 선정 배경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16A434-5D2D-391A-D456-0672F3E42C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FCT</a:t>
            </a:r>
            <a:r>
              <a:rPr lang="ko-KR" altLang="en-US" dirty="0"/>
              <a:t> 프로그램 </a:t>
            </a:r>
            <a:r>
              <a:rPr lang="en-US" altLang="ko-KR" dirty="0"/>
              <a:t>(Functional Circuit</a:t>
            </a:r>
            <a:r>
              <a:rPr lang="ko-KR" altLang="en-US" dirty="0"/>
              <a:t> </a:t>
            </a:r>
            <a:r>
              <a:rPr lang="en-US" altLang="ko-KR" dirty="0"/>
              <a:t>Test) </a:t>
            </a:r>
            <a:r>
              <a:rPr lang="ko-KR" altLang="en-US" dirty="0"/>
              <a:t>자동화 구현</a:t>
            </a:r>
            <a:endParaRPr lang="en-US" altLang="ko-KR" dirty="0"/>
          </a:p>
          <a:p>
            <a:pPr lvl="1"/>
            <a:r>
              <a:rPr lang="ko-KR" altLang="en-US" dirty="0">
                <a:latin typeface="Arial" panose="020B0604020202020204" pitchFamily="34" charset="0"/>
              </a:rPr>
              <a:t>정의 </a:t>
            </a:r>
            <a:endParaRPr lang="en-US" altLang="ko-KR" dirty="0">
              <a:latin typeface="Arial" panose="020B0604020202020204" pitchFamily="34" charset="0"/>
            </a:endParaRPr>
          </a:p>
          <a:p>
            <a:pPr lvl="2"/>
            <a:r>
              <a:rPr lang="ko-KR" altLang="en-US" dirty="0">
                <a:latin typeface="Arial" panose="020B0604020202020204" pitchFamily="34" charset="0"/>
              </a:rPr>
              <a:t>완성된 </a:t>
            </a:r>
            <a:r>
              <a:rPr lang="ko-KR" altLang="en-US" b="1" dirty="0">
                <a:latin typeface="Arial" panose="020B0604020202020204" pitchFamily="34" charset="0"/>
              </a:rPr>
              <a:t>제품의</a:t>
            </a:r>
            <a:r>
              <a:rPr lang="ko-KR" altLang="en-US" dirty="0">
                <a:latin typeface="Arial" panose="020B0604020202020204" pitchFamily="34" charset="0"/>
              </a:rPr>
              <a:t> </a:t>
            </a:r>
            <a:r>
              <a:rPr lang="ko-KR" altLang="en-US" b="0" i="0" dirty="0">
                <a:effectLst/>
                <a:latin typeface="Arial" panose="020B0604020202020204" pitchFamily="34" charset="0"/>
              </a:rPr>
              <a:t>조립이 완료된 </a:t>
            </a:r>
            <a:r>
              <a:rPr lang="en-US" altLang="ko-KR" b="0" i="0" dirty="0">
                <a:effectLst/>
                <a:latin typeface="Arial" panose="020B0604020202020204" pitchFamily="34" charset="0"/>
              </a:rPr>
              <a:t>PCB(</a:t>
            </a:r>
            <a:r>
              <a:rPr lang="ko-KR" altLang="en-US" b="0" i="0" dirty="0">
                <a:effectLst/>
                <a:latin typeface="Arial" panose="020B0604020202020204" pitchFamily="34" charset="0"/>
              </a:rPr>
              <a:t>인쇄 회로 기판</a:t>
            </a:r>
            <a:r>
              <a:rPr lang="en-US" altLang="ko-KR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b="0" i="0" dirty="0">
                <a:effectLst/>
                <a:latin typeface="Arial" panose="020B0604020202020204" pitchFamily="34" charset="0"/>
              </a:rPr>
              <a:t>가 실제 사용 환경과 </a:t>
            </a:r>
            <a:endParaRPr lang="en-US" altLang="ko-KR" dirty="0">
              <a:latin typeface="Arial" panose="020B0604020202020204" pitchFamily="34" charset="0"/>
            </a:endParaRPr>
          </a:p>
          <a:p>
            <a:pPr marL="914400" lvl="2" indent="0">
              <a:buNone/>
            </a:pPr>
            <a:r>
              <a:rPr lang="en-US" altLang="ko-KR" dirty="0">
                <a:latin typeface="Arial" panose="020B0604020202020204" pitchFamily="34" charset="0"/>
              </a:rPr>
              <a:t>  </a:t>
            </a:r>
            <a:r>
              <a:rPr lang="ko-KR" altLang="en-US" b="0" i="0" dirty="0">
                <a:effectLst/>
                <a:latin typeface="Arial" panose="020B0604020202020204" pitchFamily="34" charset="0"/>
              </a:rPr>
              <a:t>유사한 조건에서 설계 사양대로 올바르게 작동하는지 검증하는 최종 단계 검사</a:t>
            </a:r>
            <a:endParaRPr lang="en-US" altLang="ko-KR" b="0" i="0" dirty="0">
              <a:effectLst/>
              <a:latin typeface="Arial" panose="020B0604020202020204" pitchFamily="34" charset="0"/>
            </a:endParaRPr>
          </a:p>
          <a:p>
            <a:pPr lvl="1"/>
            <a:r>
              <a:rPr lang="ko-KR" altLang="en-US" dirty="0">
                <a:latin typeface="Arial" panose="020B0604020202020204" pitchFamily="34" charset="0"/>
              </a:rPr>
              <a:t>주요 기능</a:t>
            </a:r>
            <a:endParaRPr lang="en-US" altLang="ko-KR" dirty="0">
              <a:latin typeface="Arial" panose="020B0604020202020204" pitchFamily="34" charset="0"/>
            </a:endParaRPr>
          </a:p>
          <a:p>
            <a:pPr lvl="2"/>
            <a:r>
              <a:rPr lang="ko-KR" altLang="en-US" dirty="0">
                <a:latin typeface="Arial" panose="020B0604020202020204" pitchFamily="34" charset="0"/>
              </a:rPr>
              <a:t>동작 성능 검증</a:t>
            </a:r>
            <a:r>
              <a:rPr lang="en-US" altLang="ko-KR" dirty="0">
                <a:latin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</a:rPr>
              <a:t>실제 동작 환경 모의</a:t>
            </a:r>
            <a:r>
              <a:rPr lang="en-US" altLang="ko-KR" dirty="0">
                <a:latin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</a:rPr>
              <a:t>최종 </a:t>
            </a:r>
            <a:r>
              <a:rPr lang="ko-KR" altLang="en-US" b="1" dirty="0">
                <a:latin typeface="Arial" panose="020B0604020202020204" pitchFamily="34" charset="0"/>
              </a:rPr>
              <a:t>양</a:t>
            </a:r>
            <a:r>
              <a:rPr lang="en-US" altLang="ko-KR" b="1" dirty="0">
                <a:latin typeface="Arial" panose="020B0604020202020204" pitchFamily="34" charset="0"/>
              </a:rPr>
              <a:t>/</a:t>
            </a:r>
            <a:r>
              <a:rPr lang="ko-KR" altLang="en-US" b="1" dirty="0">
                <a:latin typeface="Arial" panose="020B0604020202020204" pitchFamily="34" charset="0"/>
              </a:rPr>
              <a:t>불량 판정 </a:t>
            </a:r>
            <a:endParaRPr lang="en-US" altLang="ko-KR" b="1" dirty="0">
              <a:latin typeface="Arial" panose="020B0604020202020204" pitchFamily="34" charset="0"/>
            </a:endParaRPr>
          </a:p>
          <a:p>
            <a:pPr lvl="1"/>
            <a:r>
              <a:rPr lang="ko-KR" altLang="en-US" dirty="0">
                <a:latin typeface="Arial" panose="020B0604020202020204" pitchFamily="34" charset="0"/>
              </a:rPr>
              <a:t>과제 목표</a:t>
            </a:r>
            <a:endParaRPr lang="en-US" altLang="ko-KR" dirty="0">
              <a:latin typeface="Arial" panose="020B0604020202020204" pitchFamily="34" charset="0"/>
            </a:endParaRPr>
          </a:p>
          <a:p>
            <a:pPr lvl="2"/>
            <a:r>
              <a:rPr lang="en-US" altLang="ko-KR" dirty="0">
                <a:latin typeface="Arial" panose="020B0604020202020204" pitchFamily="34" charset="0"/>
              </a:rPr>
              <a:t>GUI </a:t>
            </a:r>
            <a:r>
              <a:rPr lang="ko-KR" altLang="en-US" dirty="0">
                <a:latin typeface="Arial" panose="020B0604020202020204" pitchFamily="34" charset="0"/>
              </a:rPr>
              <a:t>기반 터치스크린 </a:t>
            </a:r>
            <a:r>
              <a:rPr lang="en-US" altLang="ko-KR" dirty="0">
                <a:latin typeface="Arial" panose="020B0604020202020204" pitchFamily="34" charset="0"/>
              </a:rPr>
              <a:t>HMI </a:t>
            </a:r>
            <a:r>
              <a:rPr lang="ko-KR" altLang="en-US" dirty="0">
                <a:latin typeface="Arial" panose="020B0604020202020204" pitchFamily="34" charset="0"/>
              </a:rPr>
              <a:t>디바이스의 아이콘 색상 양</a:t>
            </a:r>
            <a:r>
              <a:rPr lang="en-US" altLang="ko-KR" dirty="0">
                <a:latin typeface="Arial" panose="020B0604020202020204" pitchFamily="34" charset="0"/>
              </a:rPr>
              <a:t>/</a:t>
            </a:r>
            <a:r>
              <a:rPr lang="ko-KR" altLang="en-US" dirty="0">
                <a:latin typeface="Arial" panose="020B0604020202020204" pitchFamily="34" charset="0"/>
              </a:rPr>
              <a:t>불량 판정</a:t>
            </a:r>
            <a:endParaRPr lang="en-US" altLang="ko-KR" dirty="0">
              <a:latin typeface="Arial" panose="020B0604020202020204" pitchFamily="34" charset="0"/>
            </a:endParaRPr>
          </a:p>
          <a:p>
            <a:pPr lvl="2"/>
            <a:r>
              <a:rPr lang="ko-KR" altLang="en-US" dirty="0">
                <a:latin typeface="Arial" panose="020B0604020202020204" pitchFamily="34" charset="0"/>
              </a:rPr>
              <a:t>現 검사원</a:t>
            </a:r>
            <a:r>
              <a:rPr lang="en-US" altLang="ko-KR" dirty="0">
                <a:latin typeface="Arial" panose="020B0604020202020204" pitchFamily="34" charset="0"/>
              </a:rPr>
              <a:t>(</a:t>
            </a:r>
            <a:r>
              <a:rPr lang="ko-KR" altLang="en-US" dirty="0">
                <a:latin typeface="Arial" panose="020B0604020202020204" pitchFamily="34" charset="0"/>
              </a:rPr>
              <a:t>사람</a:t>
            </a:r>
            <a:r>
              <a:rPr lang="en-US" altLang="ko-KR" dirty="0">
                <a:latin typeface="Arial" panose="020B0604020202020204" pitchFamily="34" charset="0"/>
              </a:rPr>
              <a:t>)</a:t>
            </a:r>
            <a:r>
              <a:rPr lang="ko-KR" altLang="en-US" dirty="0">
                <a:latin typeface="Arial" panose="020B0604020202020204" pitchFamily="34" charset="0"/>
              </a:rPr>
              <a:t>이 모든 출하 제품이 </a:t>
            </a:r>
            <a:r>
              <a:rPr lang="en-US" altLang="ko-KR" dirty="0">
                <a:latin typeface="Arial" panose="020B0604020202020204" pitchFamily="34" charset="0"/>
              </a:rPr>
              <a:t>LCD GUI</a:t>
            </a:r>
            <a:r>
              <a:rPr lang="ko-KR" altLang="en-US" dirty="0">
                <a:latin typeface="Arial" panose="020B0604020202020204" pitchFamily="34" charset="0"/>
              </a:rPr>
              <a:t> 상태를 육안으로 판별</a:t>
            </a:r>
            <a:endParaRPr lang="en-US" altLang="ko-KR" dirty="0">
              <a:latin typeface="Arial" panose="020B0604020202020204" pitchFamily="34" charset="0"/>
            </a:endParaRPr>
          </a:p>
          <a:p>
            <a:pPr lvl="1"/>
            <a:r>
              <a:rPr lang="ko-KR" altLang="en-US" dirty="0"/>
              <a:t>테스트 방법</a:t>
            </a:r>
            <a:endParaRPr lang="en-US" altLang="ko-KR" dirty="0"/>
          </a:p>
          <a:p>
            <a:pPr lvl="2"/>
            <a:r>
              <a:rPr lang="ko-KR" altLang="en-US" dirty="0"/>
              <a:t>정상제품과 비정상 제품의 간의 </a:t>
            </a:r>
            <a:r>
              <a:rPr lang="en-US" altLang="ko-KR" dirty="0"/>
              <a:t>LCD</a:t>
            </a:r>
            <a:r>
              <a:rPr lang="ko-KR" altLang="en-US" dirty="0"/>
              <a:t> </a:t>
            </a:r>
            <a:r>
              <a:rPr lang="en-US" altLang="ko-KR" dirty="0"/>
              <a:t>Display</a:t>
            </a:r>
            <a:r>
              <a:rPr lang="ko-KR" altLang="en-US" dirty="0"/>
              <a:t>를 카메라로 촬영하여 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  GUI </a:t>
            </a:r>
            <a:r>
              <a:rPr lang="ko-KR" altLang="en-US" dirty="0"/>
              <a:t>이상</a:t>
            </a:r>
            <a:r>
              <a:rPr lang="en-US" altLang="ko-KR" dirty="0"/>
              <a:t>(</a:t>
            </a:r>
            <a:r>
              <a:rPr lang="ko-KR" altLang="en-US" dirty="0"/>
              <a:t>색상</a:t>
            </a:r>
            <a:r>
              <a:rPr lang="en-US" altLang="ko-KR" dirty="0"/>
              <a:t>) </a:t>
            </a:r>
            <a:r>
              <a:rPr lang="ko-KR" altLang="en-US" dirty="0"/>
              <a:t>아이콘을 판별한다</a:t>
            </a:r>
            <a:r>
              <a:rPr lang="en-US" altLang="ko-KR" dirty="0"/>
              <a:t>. </a:t>
            </a:r>
          </a:p>
          <a:p>
            <a:pPr lvl="2"/>
            <a:endParaRPr lang="en-US" altLang="ko-KR" dirty="0">
              <a:solidFill>
                <a:srgbClr val="001D35"/>
              </a:solidFill>
              <a:latin typeface="Arial" panose="020B0604020202020204" pitchFamily="34" charset="0"/>
            </a:endParaRPr>
          </a:p>
          <a:p>
            <a:pPr marL="457200" lvl="1" indent="0" algn="r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6478FD-65B5-F35D-53FD-BB5A28C81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962" y="822875"/>
            <a:ext cx="757933" cy="130173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ABC4160-128B-FBF5-CE64-24279CFF4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5486" y="822875"/>
            <a:ext cx="950476" cy="130173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DD9BE7D-207B-F0D1-05E4-8ED2DA909C30}"/>
              </a:ext>
            </a:extLst>
          </p:cNvPr>
          <p:cNvSpPr/>
          <p:nvPr/>
        </p:nvSpPr>
        <p:spPr>
          <a:xfrm>
            <a:off x="9476375" y="2185420"/>
            <a:ext cx="2416522" cy="2687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예</a:t>
            </a:r>
            <a:r>
              <a:rPr lang="en-US" altLang="ko-KR" sz="1000" dirty="0">
                <a:solidFill>
                  <a:schemeClr val="tx1"/>
                </a:solidFill>
              </a:rPr>
              <a:t>)FCT </a:t>
            </a:r>
            <a:r>
              <a:rPr lang="ko-KR" altLang="en-US" sz="1000" dirty="0">
                <a:solidFill>
                  <a:schemeClr val="tx1"/>
                </a:solidFill>
              </a:rPr>
              <a:t>프로그램 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갤럭시</a:t>
            </a:r>
            <a:r>
              <a:rPr lang="en-US" altLang="ko-KR" sz="1000" dirty="0">
                <a:solidFill>
                  <a:schemeClr val="tx1"/>
                </a:solidFill>
              </a:rPr>
              <a:t>S </a:t>
            </a:r>
            <a:r>
              <a:rPr lang="ko-KR" altLang="en-US" sz="1000" dirty="0">
                <a:solidFill>
                  <a:schemeClr val="tx1"/>
                </a:solidFill>
              </a:rPr>
              <a:t>테스트모드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pic>
        <p:nvPicPr>
          <p:cNvPr id="11" name="그림 10" descr="전자제품, 전자 기기, 정보기기, 케이블이(가) 표시된 사진&#10;&#10;자동 생성된 설명">
            <a:extLst>
              <a:ext uri="{FF2B5EF4-FFF2-40B4-BE49-F238E27FC236}">
                <a16:creationId xmlns:a16="http://schemas.microsoft.com/office/drawing/2014/main" id="{A07D10A7-D9F1-1E28-F30F-AD2530ED0D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0" t="18605" r="25796" b="8414"/>
          <a:stretch/>
        </p:blipFill>
        <p:spPr>
          <a:xfrm>
            <a:off x="10467218" y="4352925"/>
            <a:ext cx="1470989" cy="2066605"/>
          </a:xfrm>
          <a:prstGeom prst="rect">
            <a:avLst/>
          </a:prstGeom>
        </p:spPr>
      </p:pic>
      <p:pic>
        <p:nvPicPr>
          <p:cNvPr id="12" name="그림 11" descr="전자제품, 전자 기기, 정보기기, 텍스트이(가) 표시된 사진&#10;&#10;자동 생성된 설명">
            <a:extLst>
              <a:ext uri="{FF2B5EF4-FFF2-40B4-BE49-F238E27FC236}">
                <a16:creationId xmlns:a16="http://schemas.microsoft.com/office/drawing/2014/main" id="{6A11736F-33A6-0E07-37FF-6743308589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6" t="15727" r="4590" b="6511"/>
          <a:stretch/>
        </p:blipFill>
        <p:spPr>
          <a:xfrm rot="5400000">
            <a:off x="8603858" y="4672663"/>
            <a:ext cx="2066605" cy="1427127"/>
          </a:xfrm>
          <a:prstGeom prst="rect">
            <a:avLst/>
          </a:prstGeom>
        </p:spPr>
      </p:pic>
      <p:pic>
        <p:nvPicPr>
          <p:cNvPr id="1030" name="Picture 6" descr="김해 구산 푸르지오 파크테르">
            <a:extLst>
              <a:ext uri="{FF2B5EF4-FFF2-40B4-BE49-F238E27FC236}">
                <a16:creationId xmlns:a16="http://schemas.microsoft.com/office/drawing/2014/main" id="{529E8A02-6FA1-EE3B-AFD6-13218EE509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9" t="15746" r="27610" b="22966"/>
          <a:stretch/>
        </p:blipFill>
        <p:spPr bwMode="auto">
          <a:xfrm>
            <a:off x="9578080" y="2533885"/>
            <a:ext cx="2005815" cy="173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0849331-835C-B031-38C3-753B4E036B2E}"/>
              </a:ext>
            </a:extLst>
          </p:cNvPr>
          <p:cNvSpPr/>
          <p:nvPr/>
        </p:nvSpPr>
        <p:spPr>
          <a:xfrm>
            <a:off x="7036526" y="6150761"/>
            <a:ext cx="1828824" cy="2687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오른쪽 실제 불량 제품 사진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96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8" name="슬라이드 번호 개체 틀 3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563BB0-29EF-40E2-A5A1-60824789BDDB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프로그램 구현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16A434-5D2D-391A-D456-0672F3E42C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프로그램 동작</a:t>
            </a:r>
            <a:endParaRPr lang="en-US" altLang="ko-KR" dirty="0"/>
          </a:p>
          <a:p>
            <a:pPr lvl="1"/>
            <a:r>
              <a:rPr lang="ko-KR" altLang="en-US" dirty="0"/>
              <a:t>검사 대상의 정의</a:t>
            </a:r>
            <a:endParaRPr lang="en-US" altLang="ko-KR" dirty="0"/>
          </a:p>
          <a:p>
            <a:pPr lvl="2"/>
            <a:r>
              <a:rPr lang="ko-KR" altLang="en-US" dirty="0"/>
              <a:t>왼쪽에는 비교 데이터</a:t>
            </a:r>
            <a:r>
              <a:rPr lang="en-US" altLang="ko-KR" dirty="0"/>
              <a:t>(</a:t>
            </a:r>
            <a:r>
              <a:rPr lang="ko-KR" altLang="en-US" dirty="0"/>
              <a:t>정상 이미지</a:t>
            </a:r>
            <a:r>
              <a:rPr lang="en-US" altLang="ko-KR" dirty="0"/>
              <a:t>)</a:t>
            </a:r>
            <a:r>
              <a:rPr lang="ko-KR" altLang="en-US" dirty="0"/>
              <a:t>와 오른쪽에는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검사 대상</a:t>
            </a:r>
            <a:r>
              <a:rPr lang="en-US" altLang="ko-KR" dirty="0"/>
              <a:t> </a:t>
            </a:r>
            <a:r>
              <a:rPr lang="ko-KR" altLang="en-US" dirty="0"/>
              <a:t>이미지를 같은 좌표계에서 비교한다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상단 아이콘 </a:t>
            </a:r>
            <a:r>
              <a:rPr lang="en-US" altLang="ko-KR" dirty="0"/>
              <a:t>5</a:t>
            </a:r>
            <a:r>
              <a:rPr lang="ko-KR" altLang="en-US" dirty="0"/>
              <a:t>개와 중앙 원형 아이콘 </a:t>
            </a:r>
            <a:r>
              <a:rPr lang="en-US" altLang="ko-KR" dirty="0"/>
              <a:t>3</a:t>
            </a:r>
            <a:r>
              <a:rPr lang="ko-KR" altLang="en-US" dirty="0"/>
              <a:t>개를 고정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    ROI(Region Of Interest)</a:t>
            </a:r>
            <a:r>
              <a:rPr lang="ko-KR" altLang="en-US" dirty="0"/>
              <a:t>로 미리 설정한다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A </a:t>
            </a:r>
            <a:r>
              <a:rPr lang="ko-KR" altLang="en-US" dirty="0"/>
              <a:t>버튼을 누르면 각 </a:t>
            </a:r>
            <a:r>
              <a:rPr lang="en-US" altLang="ko-KR" dirty="0"/>
              <a:t>ROI</a:t>
            </a:r>
            <a:r>
              <a:rPr lang="ko-KR" altLang="en-US" dirty="0"/>
              <a:t>의 </a:t>
            </a:r>
            <a:r>
              <a:rPr lang="en-US" altLang="ko-KR" dirty="0"/>
              <a:t>Similarity</a:t>
            </a:r>
            <a:r>
              <a:rPr lang="ko-KR" altLang="en-US" dirty="0"/>
              <a:t>를 계산한다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M </a:t>
            </a:r>
            <a:r>
              <a:rPr lang="ko-KR" altLang="en-US" dirty="0"/>
              <a:t>버튼을 누르면 마우스로 클릭한 영역의 유사도를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계산한다</a:t>
            </a:r>
            <a:r>
              <a:rPr lang="en-US" altLang="ko-KR" dirty="0"/>
              <a:t>.</a:t>
            </a:r>
          </a:p>
          <a:p>
            <a:pPr marL="914400" lvl="2" indent="0">
              <a:buNone/>
            </a:pPr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lvl="2"/>
            <a:endParaRPr lang="en-US" altLang="ko-KR" dirty="0">
              <a:solidFill>
                <a:srgbClr val="001D35"/>
              </a:solidFill>
              <a:latin typeface="Arial" panose="020B0604020202020204" pitchFamily="34" charset="0"/>
            </a:endParaRPr>
          </a:p>
          <a:p>
            <a:pPr marL="457200" lvl="1" indent="0" algn="r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6324D6F-E324-51C8-254D-D6839F0B1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228" y="1218250"/>
            <a:ext cx="4936449" cy="523681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47BBF2E-E709-5661-C29C-5DE4FE7A9E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59" t="18571" b="63423"/>
          <a:stretch/>
        </p:blipFill>
        <p:spPr>
          <a:xfrm>
            <a:off x="2624834" y="4354766"/>
            <a:ext cx="4303043" cy="160727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8CD252C-864A-D45A-285D-FA93FA4B6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34" y="4379675"/>
            <a:ext cx="1428949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88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8" name="슬라이드 번호 개체 틀 3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563BB0-29EF-40E2-A5A1-60824789BDDB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전체 알고리즘 흐름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16A434-5D2D-391A-D456-0672F3E42C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알고리즘 흐름</a:t>
            </a:r>
            <a:endParaRPr lang="en-US" altLang="ko-KR" dirty="0"/>
          </a:p>
          <a:p>
            <a:pPr lvl="1"/>
            <a:r>
              <a:rPr lang="ko-KR" altLang="en-US" dirty="0"/>
              <a:t>고정 </a:t>
            </a:r>
            <a:r>
              <a:rPr lang="en-US" altLang="ko-KR" dirty="0"/>
              <a:t>ROI → Blur</a:t>
            </a:r>
            <a:r>
              <a:rPr lang="ko-KR" altLang="en-US" dirty="0"/>
              <a:t> </a:t>
            </a:r>
            <a:r>
              <a:rPr lang="en-US" altLang="ko-KR" dirty="0"/>
              <a:t>→ HSV </a:t>
            </a:r>
            <a:r>
              <a:rPr lang="ko-KR" altLang="en-US" dirty="0"/>
              <a:t>채널 변환 </a:t>
            </a:r>
            <a:r>
              <a:rPr lang="en-US" altLang="ko-KR" dirty="0"/>
              <a:t>→ </a:t>
            </a:r>
            <a:r>
              <a:rPr lang="ko-KR" altLang="en-US" dirty="0"/>
              <a:t>발광 영역 마스크 </a:t>
            </a:r>
            <a:r>
              <a:rPr lang="en-US" altLang="ko-KR" dirty="0"/>
              <a:t>→ </a:t>
            </a:r>
            <a:r>
              <a:rPr lang="ko-KR" altLang="en-US" dirty="0"/>
              <a:t>평균 </a:t>
            </a:r>
            <a:r>
              <a:rPr lang="en-US" altLang="ko-KR" dirty="0"/>
              <a:t>S</a:t>
            </a:r>
            <a:r>
              <a:rPr lang="ko-KR" altLang="en-US" dirty="0"/>
              <a:t>기반 판단 </a:t>
            </a:r>
            <a:r>
              <a:rPr lang="en-US" altLang="ko-KR" dirty="0"/>
              <a:t>→ </a:t>
            </a:r>
            <a:r>
              <a:rPr lang="ko-KR" altLang="en-US" dirty="0" err="1"/>
              <a:t>고채도</a:t>
            </a:r>
            <a:r>
              <a:rPr lang="en-US" altLang="ko-KR" dirty="0"/>
              <a:t>? →</a:t>
            </a:r>
          </a:p>
          <a:p>
            <a:pPr marL="457200" lvl="1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 </a:t>
            </a:r>
            <a:r>
              <a:rPr lang="en-US" altLang="ko-KR" dirty="0"/>
              <a:t>→ Similarity</a:t>
            </a:r>
            <a:r>
              <a:rPr lang="ko-KR" altLang="en-US" dirty="0"/>
              <a:t> 계산 </a:t>
            </a:r>
            <a:r>
              <a:rPr lang="en-US" altLang="ko-KR" dirty="0"/>
              <a:t>→ </a:t>
            </a:r>
            <a:r>
              <a:rPr lang="ko-KR" altLang="en-US" dirty="0"/>
              <a:t>프로그램</a:t>
            </a:r>
            <a:r>
              <a:rPr lang="en-US" altLang="ko-KR" dirty="0"/>
              <a:t> </a:t>
            </a:r>
            <a:r>
              <a:rPr lang="ko-KR" altLang="en-US" dirty="0"/>
              <a:t>화면 디스플레이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914400" lvl="2" indent="0">
              <a:buNone/>
            </a:pPr>
            <a:endParaRPr lang="en-US" altLang="ko-KR" dirty="0">
              <a:solidFill>
                <a:srgbClr val="001D35"/>
              </a:solidFill>
              <a:latin typeface="Arial" panose="020B0604020202020204" pitchFamily="34" charset="0"/>
            </a:endParaRPr>
          </a:p>
          <a:p>
            <a:pPr marL="457200" lvl="1" indent="0" algn="r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10C396E-9302-7C62-B4AD-A1B3C354B026}"/>
              </a:ext>
            </a:extLst>
          </p:cNvPr>
          <p:cNvSpPr/>
          <p:nvPr/>
        </p:nvSpPr>
        <p:spPr>
          <a:xfrm>
            <a:off x="1047751" y="2543176"/>
            <a:ext cx="1143000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이미지 입력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/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정렬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E0DB4E9-03DE-BA09-32D0-BD47FCEBB543}"/>
              </a:ext>
            </a:extLst>
          </p:cNvPr>
          <p:cNvSpPr/>
          <p:nvPr/>
        </p:nvSpPr>
        <p:spPr>
          <a:xfrm>
            <a:off x="2939398" y="2543176"/>
            <a:ext cx="1765951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고정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ROI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설정</a:t>
            </a:r>
            <a:endParaRPr lang="en-US" altLang="ko-KR" sz="1200" b="1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8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개 아이콘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71211F6-7D5E-AA33-3146-DA1EDB3B93FD}"/>
              </a:ext>
            </a:extLst>
          </p:cNvPr>
          <p:cNvSpPr/>
          <p:nvPr/>
        </p:nvSpPr>
        <p:spPr>
          <a:xfrm>
            <a:off x="5213024" y="2543176"/>
            <a:ext cx="1765951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Gaussian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Blur</a:t>
            </a:r>
            <a:endParaRPr lang="ko-KR" altLang="en-US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F400CFE-7ED8-DA0C-3D85-37B2FFB19F1F}"/>
              </a:ext>
            </a:extLst>
          </p:cNvPr>
          <p:cNvSpPr/>
          <p:nvPr/>
        </p:nvSpPr>
        <p:spPr>
          <a:xfrm>
            <a:off x="7511272" y="2543176"/>
            <a:ext cx="1765951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HSV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채널 변환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D653766-C9B6-855B-8688-5EEE4C234165}"/>
              </a:ext>
            </a:extLst>
          </p:cNvPr>
          <p:cNvSpPr/>
          <p:nvPr/>
        </p:nvSpPr>
        <p:spPr>
          <a:xfrm>
            <a:off x="9809520" y="2543176"/>
            <a:ext cx="1765951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발광영역 분리</a:t>
            </a:r>
            <a:endParaRPr lang="en-US" altLang="ko-KR" sz="1200" b="1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S,V Threshold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사용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12F8BD0-ACE5-524D-92C8-E8DBDFB819D4}"/>
              </a:ext>
            </a:extLst>
          </p:cNvPr>
          <p:cNvSpPr/>
          <p:nvPr/>
        </p:nvSpPr>
        <p:spPr>
          <a:xfrm>
            <a:off x="9809520" y="3924301"/>
            <a:ext cx="1765951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Morphology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 </a:t>
            </a:r>
            <a:endParaRPr lang="en-US" altLang="ko-KR" sz="1200" b="1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(open/close)</a:t>
            </a:r>
            <a:endParaRPr lang="ko-KR" altLang="en-US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BE513F7-8816-4E6B-DE14-709ACC7148CD}"/>
              </a:ext>
            </a:extLst>
          </p:cNvPr>
          <p:cNvSpPr/>
          <p:nvPr/>
        </p:nvSpPr>
        <p:spPr>
          <a:xfrm>
            <a:off x="7511272" y="3924301"/>
            <a:ext cx="1765951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평균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Saturation 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S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계산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8F84C3D-FAA2-99C1-AF9E-179A115B4D9A}"/>
              </a:ext>
            </a:extLst>
          </p:cNvPr>
          <p:cNvSpPr/>
          <p:nvPr/>
        </p:nvSpPr>
        <p:spPr>
          <a:xfrm>
            <a:off x="5213023" y="3924301"/>
            <a:ext cx="1765951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  <a:latin typeface="+mj-lt"/>
              </a:rPr>
              <a:t>고채도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?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mean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S &gt; threshold</a:t>
            </a:r>
            <a:endParaRPr lang="ko-KR" altLang="en-US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763761A-214A-B262-6467-AEBF6B2109B4}"/>
              </a:ext>
            </a:extLst>
          </p:cNvPr>
          <p:cNvSpPr/>
          <p:nvPr/>
        </p:nvSpPr>
        <p:spPr>
          <a:xfrm>
            <a:off x="2939398" y="3615834"/>
            <a:ext cx="1765951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Hue similarity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색상비교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)</a:t>
            </a:r>
            <a:endParaRPr lang="ko-KR" altLang="en-US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182A924-B1FB-A1AA-7FDE-741D285009D8}"/>
              </a:ext>
            </a:extLst>
          </p:cNvPr>
          <p:cNvSpPr/>
          <p:nvPr/>
        </p:nvSpPr>
        <p:spPr>
          <a:xfrm>
            <a:off x="2939398" y="4426037"/>
            <a:ext cx="1765951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Brightness similarity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밝기 비교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)</a:t>
            </a:r>
            <a:endParaRPr lang="ko-KR" altLang="en-US" sz="1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1E2B15D-8925-9B87-5DE7-4F6E65B20222}"/>
              </a:ext>
            </a:extLst>
          </p:cNvPr>
          <p:cNvSpPr/>
          <p:nvPr/>
        </p:nvSpPr>
        <p:spPr>
          <a:xfrm>
            <a:off x="543042" y="3924301"/>
            <a:ext cx="1765951" cy="685800"/>
          </a:xfrm>
          <a:prstGeom prst="roundRect">
            <a:avLst/>
          </a:prstGeom>
          <a:noFill/>
          <a:ln w="19050">
            <a:solidFill>
              <a:srgbClr val="EA54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최종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Similarity(%)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아이콘별 유사도 결과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FBFA052-5452-D969-A410-7109F1EE35ED}"/>
              </a:ext>
            </a:extLst>
          </p:cNvPr>
          <p:cNvCxnSpPr>
            <a:cxnSpLocks/>
          </p:cNvCxnSpPr>
          <p:nvPr/>
        </p:nvCxnSpPr>
        <p:spPr>
          <a:xfrm>
            <a:off x="2190751" y="2886076"/>
            <a:ext cx="74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C76033A-10C0-01FB-83F7-3A2D9A7F0351}"/>
              </a:ext>
            </a:extLst>
          </p:cNvPr>
          <p:cNvCxnSpPr>
            <a:cxnSpLocks/>
          </p:cNvCxnSpPr>
          <p:nvPr/>
        </p:nvCxnSpPr>
        <p:spPr>
          <a:xfrm>
            <a:off x="4705349" y="2886076"/>
            <a:ext cx="5076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0669D6B-A2B0-9EBF-F72E-0586BD31EACD}"/>
              </a:ext>
            </a:extLst>
          </p:cNvPr>
          <p:cNvCxnSpPr>
            <a:cxnSpLocks/>
          </p:cNvCxnSpPr>
          <p:nvPr/>
        </p:nvCxnSpPr>
        <p:spPr>
          <a:xfrm>
            <a:off x="6978974" y="2886076"/>
            <a:ext cx="532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B1AF521-A457-9B0A-ECB7-DA14FA195BF4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9277223" y="2886076"/>
            <a:ext cx="5322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26D052A-3BD1-8D9F-36F2-F5FFBA711E16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10692496" y="3228976"/>
            <a:ext cx="0" cy="695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6B986C4-60E2-31DC-9137-713189AAB954}"/>
              </a:ext>
            </a:extLst>
          </p:cNvPr>
          <p:cNvCxnSpPr>
            <a:stCxn id="16" idx="1"/>
            <a:endCxn id="17" idx="3"/>
          </p:cNvCxnSpPr>
          <p:nvPr/>
        </p:nvCxnSpPr>
        <p:spPr>
          <a:xfrm flipH="1">
            <a:off x="9277223" y="4267201"/>
            <a:ext cx="5322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08933A3-F912-1C02-EF25-FA127FA65A99}"/>
              </a:ext>
            </a:extLst>
          </p:cNvPr>
          <p:cNvCxnSpPr>
            <a:stCxn id="17" idx="1"/>
            <a:endCxn id="18" idx="3"/>
          </p:cNvCxnSpPr>
          <p:nvPr/>
        </p:nvCxnSpPr>
        <p:spPr>
          <a:xfrm flipH="1">
            <a:off x="6978974" y="4267201"/>
            <a:ext cx="532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1407950-7825-31C5-A2A9-F880B146BAD1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 flipV="1">
            <a:off x="4705349" y="3958734"/>
            <a:ext cx="507674" cy="308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8CE16B5-820B-8EA9-17ED-755C2A0C96EA}"/>
              </a:ext>
            </a:extLst>
          </p:cNvPr>
          <p:cNvCxnSpPr>
            <a:stCxn id="18" idx="1"/>
            <a:endCxn id="20" idx="3"/>
          </p:cNvCxnSpPr>
          <p:nvPr/>
        </p:nvCxnSpPr>
        <p:spPr>
          <a:xfrm flipH="1">
            <a:off x="4705349" y="4267201"/>
            <a:ext cx="507674" cy="501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B21FEAA-4D33-BDDD-AA60-51DBBC9F90A7}"/>
              </a:ext>
            </a:extLst>
          </p:cNvPr>
          <p:cNvCxnSpPr>
            <a:stCxn id="19" idx="1"/>
            <a:endCxn id="21" idx="3"/>
          </p:cNvCxnSpPr>
          <p:nvPr/>
        </p:nvCxnSpPr>
        <p:spPr>
          <a:xfrm flipH="1">
            <a:off x="2308993" y="3958734"/>
            <a:ext cx="630405" cy="308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C1823A5-B6A7-9BA8-E498-236FC65C7500}"/>
              </a:ext>
            </a:extLst>
          </p:cNvPr>
          <p:cNvCxnSpPr>
            <a:stCxn id="20" idx="1"/>
            <a:endCxn id="21" idx="3"/>
          </p:cNvCxnSpPr>
          <p:nvPr/>
        </p:nvCxnSpPr>
        <p:spPr>
          <a:xfrm flipH="1" flipV="1">
            <a:off x="2308993" y="4267201"/>
            <a:ext cx="630405" cy="501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1EBBD57-784F-CEF0-04D5-6289AF7DDCC0}"/>
              </a:ext>
            </a:extLst>
          </p:cNvPr>
          <p:cNvSpPr/>
          <p:nvPr/>
        </p:nvSpPr>
        <p:spPr>
          <a:xfrm>
            <a:off x="7316054" y="5619144"/>
            <a:ext cx="4259417" cy="6858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 dirty="0" err="1">
                <a:solidFill>
                  <a:schemeClr val="tx1"/>
                </a:solidFill>
                <a:latin typeface="+mj-lt"/>
              </a:rPr>
              <a:t>고채도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ROI : Bulb, Plug,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중앙아이콘  </a:t>
            </a:r>
            <a:endParaRPr lang="en-US" altLang="ko-KR" sz="1200" b="1" dirty="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err="1">
                <a:solidFill>
                  <a:schemeClr val="tx1"/>
                </a:solidFill>
                <a:latin typeface="+mj-lt"/>
              </a:rPr>
              <a:t>저채도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ROI : Mode, Menu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흰색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회색 계열 상단 아이콘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D7ABD44A-2D87-FF1B-ED4D-642A77B7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274" y="5185741"/>
            <a:ext cx="4281823" cy="210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1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8" name="슬라이드 번호 개체 틀 3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563BB0-29EF-40E2-A5A1-60824789BDDB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발광 영역 추출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16A434-5D2D-391A-D456-0672F3E42C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필요성</a:t>
            </a:r>
            <a:endParaRPr lang="en-US" altLang="ko-KR" dirty="0"/>
          </a:p>
          <a:p>
            <a:pPr lvl="1"/>
            <a:r>
              <a:rPr lang="ko-KR" altLang="en-US" dirty="0"/>
              <a:t>검은 배경</a:t>
            </a:r>
            <a:r>
              <a:rPr lang="en-US" altLang="ko-KR" dirty="0"/>
              <a:t>, </a:t>
            </a:r>
            <a:r>
              <a:rPr lang="ko-KR" altLang="en-US" dirty="0"/>
              <a:t>반사광으로 부터 발광 </a:t>
            </a:r>
            <a:r>
              <a:rPr lang="en-US" altLang="ko-KR" dirty="0"/>
              <a:t>Feature</a:t>
            </a:r>
            <a:r>
              <a:rPr lang="ko-KR" altLang="en-US" dirty="0"/>
              <a:t>를 분리해 내기 위함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비교에 불필요한 요소를 제거하고 필요한 픽셀만 따로 선택하기 위함</a:t>
            </a:r>
            <a:endParaRPr lang="en-US" altLang="ko-KR" dirty="0"/>
          </a:p>
          <a:p>
            <a:r>
              <a:rPr lang="en-US" altLang="ko-KR" dirty="0"/>
              <a:t>Blur, HSV, Threshold, Morphology</a:t>
            </a:r>
          </a:p>
          <a:p>
            <a:pPr lvl="1"/>
            <a:r>
              <a:rPr lang="en-US" altLang="ko-KR" dirty="0"/>
              <a:t>Gaussian Blur(3x3)</a:t>
            </a:r>
            <a:r>
              <a:rPr lang="ko-KR" altLang="en-US" dirty="0"/>
              <a:t>로 작은 잡음과 미세한 반사 변화를 약하게 완화</a:t>
            </a:r>
            <a:endParaRPr lang="en-US" altLang="ko-KR" dirty="0"/>
          </a:p>
          <a:p>
            <a:pPr lvl="1"/>
            <a:r>
              <a:rPr lang="en-US" altLang="ko-KR" dirty="0"/>
              <a:t>ROI</a:t>
            </a:r>
            <a:r>
              <a:rPr lang="ko-KR" altLang="en-US" dirty="0"/>
              <a:t>를 </a:t>
            </a:r>
            <a:r>
              <a:rPr lang="en-US" altLang="ko-KR" dirty="0"/>
              <a:t>HSV</a:t>
            </a:r>
            <a:r>
              <a:rPr lang="ko-KR" altLang="en-US" dirty="0"/>
              <a:t>로 변환해서 </a:t>
            </a:r>
            <a:r>
              <a:rPr lang="en-US" altLang="ko-KR" dirty="0"/>
              <a:t>Hue, Saturation, Value</a:t>
            </a:r>
            <a:r>
              <a:rPr lang="ko-KR" altLang="en-US" dirty="0"/>
              <a:t>를 분리</a:t>
            </a:r>
            <a:endParaRPr lang="en-US" altLang="ko-KR" dirty="0"/>
          </a:p>
          <a:p>
            <a:pPr lvl="1"/>
            <a:r>
              <a:rPr lang="ko-KR" altLang="en-US" dirty="0" err="1"/>
              <a:t>발광부</a:t>
            </a:r>
            <a:r>
              <a:rPr lang="ko-KR" altLang="en-US" dirty="0"/>
              <a:t> 마스크 생성</a:t>
            </a:r>
            <a:r>
              <a:rPr lang="en-US" altLang="ko-KR" dirty="0"/>
              <a:t>(Glow mask)</a:t>
            </a:r>
          </a:p>
          <a:p>
            <a:pPr lvl="2"/>
            <a:r>
              <a:rPr lang="en-US" altLang="ko-KR" dirty="0"/>
              <a:t>Color</a:t>
            </a:r>
            <a:r>
              <a:rPr lang="ko-KR" altLang="en-US" dirty="0"/>
              <a:t> </a:t>
            </a:r>
            <a:r>
              <a:rPr lang="en-US" altLang="ko-KR" dirty="0"/>
              <a:t>mask: S&gt;40, V&gt;40 (</a:t>
            </a:r>
            <a:r>
              <a:rPr lang="ko-KR" altLang="en-US" dirty="0"/>
              <a:t>컬러 </a:t>
            </a:r>
            <a:r>
              <a:rPr lang="ko-KR" altLang="en-US" dirty="0" err="1"/>
              <a:t>발광부</a:t>
            </a:r>
            <a:r>
              <a:rPr lang="en-US" altLang="ko-KR" dirty="0"/>
              <a:t> S, V</a:t>
            </a:r>
            <a:r>
              <a:rPr lang="ko-KR" altLang="en-US" dirty="0"/>
              <a:t> 모두가 크다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Bright mask: V&gt;150 (</a:t>
            </a:r>
            <a:r>
              <a:rPr lang="ko-KR" altLang="en-US" dirty="0"/>
              <a:t>흰색</a:t>
            </a:r>
            <a:r>
              <a:rPr lang="en-US" altLang="ko-KR" dirty="0"/>
              <a:t>, </a:t>
            </a:r>
            <a:r>
              <a:rPr lang="ko-KR" altLang="en-US" dirty="0"/>
              <a:t>회색은 </a:t>
            </a:r>
            <a:r>
              <a:rPr lang="en-US" altLang="ko-KR" dirty="0"/>
              <a:t>V</a:t>
            </a:r>
            <a:r>
              <a:rPr lang="ko-KR" altLang="en-US" dirty="0"/>
              <a:t>만 크다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두 마스크를 합친 뒤 </a:t>
            </a:r>
            <a:r>
              <a:rPr lang="en-US" altLang="ko-KR" dirty="0"/>
              <a:t>morphology</a:t>
            </a:r>
            <a:r>
              <a:rPr lang="ko-KR" altLang="en-US" dirty="0"/>
              <a:t>로 발광 영역 정리</a:t>
            </a:r>
            <a:endParaRPr lang="en-US" altLang="ko-KR" dirty="0"/>
          </a:p>
          <a:p>
            <a:r>
              <a:rPr lang="en-US" altLang="ko-KR" dirty="0"/>
              <a:t>Similarity</a:t>
            </a:r>
            <a:endParaRPr lang="en-US" altLang="ko-KR" dirty="0">
              <a:solidFill>
                <a:srgbClr val="001D35"/>
              </a:solidFill>
              <a:latin typeface="Arial" panose="020B0604020202020204" pitchFamily="34" charset="0"/>
            </a:endParaRPr>
          </a:p>
          <a:p>
            <a:pPr marL="457200" lvl="1" indent="0" algn="r">
              <a:buNone/>
            </a:pPr>
            <a:endParaRPr lang="en-US" altLang="ko-KR" b="1" dirty="0"/>
          </a:p>
          <a:p>
            <a:pPr marL="457200" lvl="1" indent="0">
              <a:buNone/>
            </a:pP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EE7676-696E-DEC7-89A1-7A78EEC42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213" y="3429000"/>
            <a:ext cx="3633787" cy="176376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698ACA2-B00E-343A-1AF8-54963E20FC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48"/>
          <a:stretch/>
        </p:blipFill>
        <p:spPr>
          <a:xfrm>
            <a:off x="1213332" y="5400675"/>
            <a:ext cx="4667901" cy="742344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B5D98AD-E806-8A1D-AD97-6B9BF3EEB44B}"/>
              </a:ext>
            </a:extLst>
          </p:cNvPr>
          <p:cNvSpPr/>
          <p:nvPr/>
        </p:nvSpPr>
        <p:spPr>
          <a:xfrm>
            <a:off x="6239305" y="5312120"/>
            <a:ext cx="4259417" cy="6858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Diff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: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 정상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비정상 이미지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ROI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추출 차이 </a:t>
            </a:r>
            <a:endParaRPr lang="en-US" altLang="ko-KR" sz="1200" b="1" dirty="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Base: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 색 차이의 허용치 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낮을 수록 엄격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높을 수록 </a:t>
            </a:r>
            <a:r>
              <a:rPr lang="ko-KR" altLang="en-US" sz="1200" b="1" dirty="0" err="1">
                <a:solidFill>
                  <a:schemeClr val="tx1"/>
                </a:solidFill>
                <a:latin typeface="+mj-lt"/>
              </a:rPr>
              <a:t>느슨</a:t>
            </a: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)</a:t>
            </a:r>
            <a:endParaRPr lang="ko-KR" altLang="en-US" sz="12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6B82231-937F-C12D-29C3-92EEB6B78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887" y="1882524"/>
            <a:ext cx="3186113" cy="154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7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8" name="슬라이드 번호 개체 틀 3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563BB0-29EF-40E2-A5A1-60824789BDDB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결과 및 고찰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16A434-5D2D-391A-D456-0672F3E42C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본 프로그램은 각 </a:t>
            </a:r>
            <a:r>
              <a:rPr lang="en-US" altLang="ko-KR" dirty="0"/>
              <a:t>ROI</a:t>
            </a:r>
            <a:r>
              <a:rPr lang="ko-KR" altLang="en-US" dirty="0"/>
              <a:t> 빨간 박스를 표시하고 아이콘별 </a:t>
            </a:r>
            <a:r>
              <a:rPr lang="en-US" altLang="ko-KR" dirty="0"/>
              <a:t>similarity(%)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출력한다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고채도</a:t>
            </a:r>
            <a:r>
              <a:rPr lang="ko-KR" altLang="en-US" dirty="0"/>
              <a:t> 아이콘은 </a:t>
            </a:r>
            <a:r>
              <a:rPr lang="en-US" altLang="ko-KR" dirty="0"/>
              <a:t>Hue </a:t>
            </a:r>
            <a:r>
              <a:rPr lang="ko-KR" altLang="en-US" dirty="0"/>
              <a:t>차이에 민감하고</a:t>
            </a:r>
            <a:r>
              <a:rPr lang="en-US" altLang="ko-KR" dirty="0"/>
              <a:t>, </a:t>
            </a:r>
            <a:r>
              <a:rPr lang="ko-KR" altLang="en-US" dirty="0" err="1"/>
              <a:t>저채도</a:t>
            </a:r>
            <a:r>
              <a:rPr lang="ko-KR" altLang="en-US" dirty="0"/>
              <a:t> 아이콘은 </a:t>
            </a:r>
            <a:r>
              <a:rPr lang="en-US" altLang="ko-KR" dirty="0"/>
              <a:t>Brightness </a:t>
            </a:r>
            <a:r>
              <a:rPr lang="ko-KR" altLang="en-US" dirty="0"/>
              <a:t>차이에 민감하다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카메라 촬영의 경우 반사와 각도에 결과가 크게 달라 질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추후 기능 개선</a:t>
            </a:r>
            <a:endParaRPr lang="en-US" altLang="ko-KR" dirty="0"/>
          </a:p>
          <a:p>
            <a:pPr lvl="1"/>
            <a:r>
              <a:rPr lang="ko-KR" altLang="en-US" dirty="0"/>
              <a:t>아이콘의 위치</a:t>
            </a:r>
            <a:r>
              <a:rPr lang="en-US" altLang="ko-KR" dirty="0"/>
              <a:t>, </a:t>
            </a:r>
            <a:r>
              <a:rPr lang="ko-KR" altLang="en-US" dirty="0"/>
              <a:t>크기</a:t>
            </a:r>
            <a:r>
              <a:rPr lang="en-US" altLang="ko-KR" dirty="0"/>
              <a:t>, </a:t>
            </a:r>
            <a:r>
              <a:rPr lang="ko-KR" altLang="en-US" dirty="0"/>
              <a:t>색상 등을 비교하여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종합적인 </a:t>
            </a:r>
            <a:r>
              <a:rPr lang="en-US" altLang="ko-KR" dirty="0"/>
              <a:t>GUI </a:t>
            </a:r>
            <a:r>
              <a:rPr lang="ko-KR" altLang="en-US" dirty="0"/>
              <a:t>상태를 파악할 수 있다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동적 </a:t>
            </a:r>
            <a:r>
              <a:rPr lang="en-US" altLang="ko-KR" dirty="0"/>
              <a:t>GUI</a:t>
            </a:r>
            <a:r>
              <a:rPr lang="ko-KR" altLang="en-US" dirty="0"/>
              <a:t>의 경우 </a:t>
            </a:r>
            <a:r>
              <a:rPr lang="en-US" altLang="ko-KR" dirty="0"/>
              <a:t>Feature Detection</a:t>
            </a:r>
          </a:p>
          <a:p>
            <a:pPr marL="457200" lvl="1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알고리즘을 이용하여 유사도를 파악할 수 있다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   </a:t>
            </a:r>
          </a:p>
          <a:p>
            <a:pPr lvl="1"/>
            <a:endParaRPr lang="en-US" altLang="ko-KR" dirty="0"/>
          </a:p>
          <a:p>
            <a:pPr marL="914400" lvl="2" indent="0">
              <a:buNone/>
            </a:pPr>
            <a:endParaRPr lang="en-US" altLang="ko-KR" dirty="0">
              <a:solidFill>
                <a:srgbClr val="001D35"/>
              </a:solidFill>
              <a:latin typeface="Arial" panose="020B0604020202020204" pitchFamily="34" charset="0"/>
            </a:endParaRPr>
          </a:p>
          <a:p>
            <a:pPr marL="457200" lvl="1" indent="0" algn="r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CDE1D6-AF49-58A7-8293-31418ECD1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40" y="4501182"/>
            <a:ext cx="2934235" cy="15585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500893-100A-9145-5C7A-3E70D7FD0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474" y="2341827"/>
            <a:ext cx="3764811" cy="399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53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34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KLABS_PPT_250703.pptx" id="{8C8C9492-2C2A-40D0-B5DD-7F9D9F88D8FF}" vid="{72F9EBF8-4320-4D6E-A79C-86A6F11B113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MKLABS_PPT_250703</Template>
  <TotalTime>219</TotalTime>
  <Words>543</Words>
  <Application>Microsoft Office PowerPoint</Application>
  <PresentationFormat>와이드스크린</PresentationFormat>
  <Paragraphs>108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Ricky Kim</dc:creator>
  <cp:lastModifiedBy>Ricky Kim</cp:lastModifiedBy>
  <cp:revision>6</cp:revision>
  <dcterms:created xsi:type="dcterms:W3CDTF">2026-04-21T01:16:28Z</dcterms:created>
  <dcterms:modified xsi:type="dcterms:W3CDTF">2026-04-21T08:50:23Z</dcterms:modified>
</cp:coreProperties>
</file>